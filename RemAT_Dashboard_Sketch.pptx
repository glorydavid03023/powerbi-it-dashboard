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5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" y="64008"/>
            <a:ext cx="777240" cy="237744"/>
          </a:xfrm>
          <a:prstGeom prst="roundRect">
            <a:avLst>
              <a:gd name="adj" fmla="val 3000"/>
            </a:avLst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4008"/>
            <a:ext cx="777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SDR CMSO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4008"/>
            <a:ext cx="13716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C8DEEF"/>
                </a:solidFill>
              </a:rPr>
              <a:t>RemAT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91440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Endpoint Compliance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008"/>
            <a:ext cx="36576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Pilot Cycle  |  June 29, 2026  |  Data: ITMS + VBA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521440" y="82296"/>
            <a:ext cx="530352" cy="201168"/>
          </a:xfrm>
          <a:prstGeom prst="roundRect">
            <a:avLst>
              <a:gd name="adj" fmla="val 4000"/>
            </a:avLst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0" y="82296"/>
            <a:ext cx="53035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4ADE80"/>
                </a:solidFill>
              </a:rPr>
              <a:t>● 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365760"/>
            <a:ext cx="12188952" cy="274320"/>
          </a:xfrm>
          <a:prstGeom prst="rect">
            <a:avLst/>
          </a:prstGeom>
          <a:solidFill>
            <a:srgbClr val="11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420624"/>
            <a:ext cx="1005840" cy="164592"/>
          </a:xfrm>
          <a:prstGeom prst="roundRect">
            <a:avLst>
              <a:gd name="adj" fmla="val 3000"/>
            </a:avLst>
          </a:prstGeom>
          <a:solidFill>
            <a:srgbClr val="1A5FA8"/>
          </a:solidFill>
          <a:ln w="6350">
            <a:solidFill>
              <a:srgbClr val="22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All Deployments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7360" y="420624"/>
            <a:ext cx="1005840" cy="164592"/>
          </a:xfrm>
          <a:prstGeom prst="roundRect">
            <a:avLst>
              <a:gd name="adj" fmla="val 3000"/>
            </a:avLst>
          </a:prstGeom>
          <a:solidFill>
            <a:srgbClr val="1A2A3A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42062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Patch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420624"/>
            <a:ext cx="731520" cy="164592"/>
          </a:xfrm>
          <a:prstGeom prst="roundRect">
            <a:avLst>
              <a:gd name="adj" fmla="val 3000"/>
            </a:avLst>
          </a:prstGeom>
          <a:solidFill>
            <a:srgbClr val="1A2A3A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420624"/>
            <a:ext cx="731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RM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420624"/>
            <a:ext cx="731520" cy="164592"/>
          </a:xfrm>
          <a:prstGeom prst="roundRect">
            <a:avLst>
              <a:gd name="adj" fmla="val 3000"/>
            </a:avLst>
          </a:prstGeom>
          <a:solidFill>
            <a:srgbClr val="1A2A3A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420624"/>
            <a:ext cx="731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OOB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20624"/>
            <a:ext cx="731520" cy="164592"/>
          </a:xfrm>
          <a:prstGeom prst="roundRect">
            <a:avLst>
              <a:gd name="adj" fmla="val 3000"/>
            </a:avLst>
          </a:prstGeom>
          <a:solidFill>
            <a:srgbClr val="1A5FA8"/>
          </a:solidFill>
          <a:ln w="6350">
            <a:solidFill>
              <a:srgbClr val="22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20624"/>
            <a:ext cx="731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Win 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420624"/>
            <a:ext cx="731520" cy="164592"/>
          </a:xfrm>
          <a:prstGeom prst="roundRect">
            <a:avLst>
              <a:gd name="adj" fmla="val 3000"/>
            </a:avLst>
          </a:prstGeom>
          <a:solidFill>
            <a:srgbClr val="1A2A3A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420624"/>
            <a:ext cx="731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Win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420624"/>
            <a:ext cx="1005840" cy="164592"/>
          </a:xfrm>
          <a:prstGeom prst="roundRect">
            <a:avLst>
              <a:gd name="adj" fmla="val 3000"/>
            </a:avLst>
          </a:prstGeom>
          <a:solidFill>
            <a:srgbClr val="1A5FA8"/>
          </a:solidFill>
          <a:ln w="6350">
            <a:solidFill>
              <a:srgbClr val="22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42062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Actionable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20624"/>
            <a:ext cx="1005840" cy="164592"/>
          </a:xfrm>
          <a:prstGeom prst="roundRect">
            <a:avLst>
              <a:gd name="adj" fmla="val 3000"/>
            </a:avLst>
          </a:prstGeom>
          <a:solidFill>
            <a:srgbClr val="1A2A3A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0624"/>
            <a:ext cx="1005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Unreachable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20624"/>
            <a:ext cx="731520" cy="164592"/>
          </a:xfrm>
          <a:prstGeom prst="roundRect">
            <a:avLst>
              <a:gd name="adj" fmla="val 3000"/>
            </a:avLst>
          </a:prstGeom>
          <a:solidFill>
            <a:srgbClr val="1A2A3A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420624"/>
            <a:ext cx="731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VIP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20624"/>
            <a:ext cx="2743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As of 06/29/2026  09:00 AM 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694944"/>
            <a:ext cx="36576" cy="128016"/>
          </a:xfrm>
          <a:prstGeom prst="rect">
            <a:avLst/>
          </a:prstGeom>
          <a:solidFill>
            <a:srgbClr val="227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676656"/>
            <a:ext cx="5486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ENTERPRISE COMPLIANCE SNAPSHOT — SIX POC METRICS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841248"/>
            <a:ext cx="11859768" cy="457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64592" y="886968"/>
            <a:ext cx="1921764" cy="777240"/>
          </a:xfrm>
          <a:prstGeom prst="roundRect">
            <a:avLst>
              <a:gd name="adj" fmla="val 6000"/>
            </a:avLst>
          </a:prstGeom>
          <a:solidFill>
            <a:srgbClr val="0F1E32"/>
          </a:solidFill>
          <a:ln w="635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3736" y="1632204"/>
            <a:ext cx="1903476" cy="27432"/>
          </a:xfrm>
          <a:prstGeom prst="rect">
            <a:avLst/>
          </a:prstGeom>
          <a:solidFill>
            <a:srgbClr val="22A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950976"/>
            <a:ext cx="17571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AVG 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1088136"/>
            <a:ext cx="17571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92.76%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1408176"/>
            <a:ext cx="17571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+0.4% vs last cycle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22A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02336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30352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141220" y="886968"/>
            <a:ext cx="1921764" cy="777240"/>
          </a:xfrm>
          <a:prstGeom prst="roundRect">
            <a:avLst>
              <a:gd name="adj" fmla="val 6000"/>
            </a:avLst>
          </a:prstGeom>
          <a:solidFill>
            <a:srgbClr val="0F1E32"/>
          </a:solidFill>
          <a:ln w="635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50364" y="1632204"/>
            <a:ext cx="1903476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50948" y="950976"/>
            <a:ext cx="17571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NONCOMPLIANT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50948" y="1088136"/>
            <a:ext cx="17571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4,188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50948" y="1408176"/>
            <a:ext cx="17571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57,860 applicable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50948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378964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506980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117847" y="886968"/>
            <a:ext cx="1921764" cy="777240"/>
          </a:xfrm>
          <a:prstGeom prst="roundRect">
            <a:avLst>
              <a:gd name="adj" fmla="val 6000"/>
            </a:avLst>
          </a:prstGeom>
          <a:solidFill>
            <a:srgbClr val="0F1E32"/>
          </a:solidFill>
          <a:ln w="635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26991" y="1632204"/>
            <a:ext cx="1903476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27576" y="950976"/>
            <a:ext cx="17571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AVG DAYS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7576" y="1088136"/>
            <a:ext cx="17571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27576" y="1408176"/>
            <a:ext cx="17571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Median: 19 days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27576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355591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483608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094475" y="886968"/>
            <a:ext cx="1921764" cy="777240"/>
          </a:xfrm>
          <a:prstGeom prst="roundRect">
            <a:avLst>
              <a:gd name="adj" fmla="val 6000"/>
            </a:avLst>
          </a:prstGeom>
          <a:solidFill>
            <a:srgbClr val="0F1E32"/>
          </a:solidFill>
          <a:ln w="635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03619" y="1632204"/>
            <a:ext cx="1903476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04203" y="950976"/>
            <a:ext cx="17571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VIP EXPOSED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04203" y="1088136"/>
            <a:ext cx="17571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04203" y="1408176"/>
            <a:ext cx="17571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+3 from last cycle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04203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32219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460236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071104" y="886968"/>
            <a:ext cx="1921764" cy="777240"/>
          </a:xfrm>
          <a:prstGeom prst="roundRect">
            <a:avLst>
              <a:gd name="adj" fmla="val 6000"/>
            </a:avLst>
          </a:prstGeom>
          <a:solidFill>
            <a:srgbClr val="0F1E32"/>
          </a:solidFill>
          <a:ln w="635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80247" y="1632204"/>
            <a:ext cx="1903476" cy="27432"/>
          </a:xfrm>
          <a:prstGeom prst="rect">
            <a:avLst/>
          </a:prstGeom>
          <a:solidFill>
            <a:srgbClr val="22A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80831" y="950976"/>
            <a:ext cx="17571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SMP HEALTH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80831" y="1088136"/>
            <a:ext cx="17571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99.1%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80831" y="1408176"/>
            <a:ext cx="17571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710 unhealthy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80831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22A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308847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436863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047732" y="886968"/>
            <a:ext cx="1921764" cy="777240"/>
          </a:xfrm>
          <a:prstGeom prst="roundRect">
            <a:avLst>
              <a:gd name="adj" fmla="val 6000"/>
            </a:avLst>
          </a:prstGeom>
          <a:solidFill>
            <a:srgbClr val="0F1E32"/>
          </a:solidFill>
          <a:ln w="635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056876" y="1632204"/>
            <a:ext cx="1903476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57460" y="950976"/>
            <a:ext cx="17571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SEP HEALTH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57460" y="1088136"/>
            <a:ext cx="17571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97.9%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57460" y="1408176"/>
            <a:ext cx="17571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1,621 unhealthy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157460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0285476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0413491" y="1545336"/>
            <a:ext cx="82296" cy="82296"/>
          </a:xfrm>
          <a:prstGeom prst="roundRect">
            <a:avLst>
              <a:gd name="adj" fmla="val 5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64592" y="1728216"/>
            <a:ext cx="4937760" cy="2331720"/>
          </a:xfrm>
          <a:prstGeom prst="roundRect">
            <a:avLst>
              <a:gd name="adj" fmla="val 6000"/>
            </a:avLst>
          </a:prstGeom>
          <a:solidFill>
            <a:srgbClr val="0F1E32"/>
          </a:solidFill>
          <a:ln w="635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1751" y="1837943"/>
            <a:ext cx="4663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COMPLIANCE BY DEPLOYMENT / BULLETIN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2039112"/>
            <a:ext cx="13716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BULLETIN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45920" y="2039112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SEV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40280" y="2039112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TYPE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3200" y="2039112"/>
            <a:ext cx="7772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APPLICABLE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20440" y="2039112"/>
            <a:ext cx="15087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COMPLIANCE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37744" y="2185416"/>
            <a:ext cx="4791456" cy="27432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2608" y="2203704"/>
            <a:ext cx="128016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MS26-03-W11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2608" y="2331720"/>
            <a:ext cx="12801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Win 11 Monthly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645920" y="2240280"/>
            <a:ext cx="566928" cy="164592"/>
          </a:xfrm>
          <a:prstGeom prst="roundRect">
            <a:avLst>
              <a:gd name="adj" fmla="val 3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45920" y="2240280"/>
            <a:ext cx="56692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CA5A5"/>
                </a:solidFill>
              </a:rPr>
              <a:t>CRITICAL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240280" y="2240280"/>
            <a:ext cx="438912" cy="164592"/>
          </a:xfrm>
          <a:prstGeom prst="roundRect">
            <a:avLst>
              <a:gd name="adj" fmla="val 3000"/>
            </a:avLst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240280" y="2240280"/>
            <a:ext cx="4389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PATCH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70632" y="2203704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78,013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566160" y="2295144"/>
            <a:ext cx="1143000" cy="54864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566160" y="2295144"/>
            <a:ext cx="1098423" cy="54864"/>
          </a:xfrm>
          <a:prstGeom prst="rect">
            <a:avLst/>
          </a:prstGeom>
          <a:solidFill>
            <a:srgbClr val="22A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2221992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22A350"/>
                </a:solidFill>
              </a:rPr>
              <a:t>96.10%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2608" y="2478024"/>
            <a:ext cx="128016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MS26-03-Monthly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92608" y="2606040"/>
            <a:ext cx="12801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365 Semi-Annual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645920" y="2514600"/>
            <a:ext cx="566928" cy="164592"/>
          </a:xfrm>
          <a:prstGeom prst="roundRect">
            <a:avLst>
              <a:gd name="adj" fmla="val 3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645920" y="2514600"/>
            <a:ext cx="56692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CA5A5"/>
                </a:solidFill>
              </a:rPr>
              <a:t>CRITICAL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240280" y="2514600"/>
            <a:ext cx="438912" cy="164592"/>
          </a:xfrm>
          <a:prstGeom prst="roundRect">
            <a:avLst>
              <a:gd name="adj" fmla="val 3000"/>
            </a:avLst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240280" y="2514600"/>
            <a:ext cx="4389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PATCH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70632" y="2478024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78,399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566160" y="2569464"/>
            <a:ext cx="1143000" cy="54864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566160" y="2569464"/>
            <a:ext cx="1097280" cy="54864"/>
          </a:xfrm>
          <a:prstGeom prst="rect">
            <a:avLst/>
          </a:prstGeom>
          <a:solidFill>
            <a:srgbClr val="22A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2496312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22A350"/>
                </a:solidFill>
              </a:rPr>
              <a:t>96.00%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37744" y="2734056"/>
            <a:ext cx="4791456" cy="27432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92608" y="2752344"/>
            <a:ext cx="128016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MEDGE-260402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92608" y="2880360"/>
            <a:ext cx="12801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Edge Browser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645920" y="2788920"/>
            <a:ext cx="566928" cy="164592"/>
          </a:xfrm>
          <a:prstGeom prst="roundRect">
            <a:avLst>
              <a:gd name="adj" fmla="val 3000"/>
            </a:avLst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645920" y="2788920"/>
            <a:ext cx="56692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CD34D"/>
                </a:solidFill>
              </a:rPr>
              <a:t>IMPORTANT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240280" y="2788920"/>
            <a:ext cx="438912" cy="164592"/>
          </a:xfrm>
          <a:prstGeom prst="roundRect">
            <a:avLst>
              <a:gd name="adj" fmla="val 3000"/>
            </a:avLst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240280" y="2788920"/>
            <a:ext cx="4389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PATCH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70632" y="2752344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74,679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566160" y="2843784"/>
            <a:ext cx="1143000" cy="54864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66160" y="2843784"/>
            <a:ext cx="1035558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718304" y="2770632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D97706"/>
                </a:solidFill>
              </a:rPr>
              <a:t>90.60%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92608" y="3026664"/>
            <a:ext cx="128016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MS26-03-DNETC80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92608" y="3154680"/>
            <a:ext cx="12801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.NET 8.0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645920" y="3063240"/>
            <a:ext cx="566928" cy="164592"/>
          </a:xfrm>
          <a:prstGeom prst="roundRect">
            <a:avLst>
              <a:gd name="adj" fmla="val 3000"/>
            </a:avLst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645920" y="3063240"/>
            <a:ext cx="56692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CD34D"/>
                </a:solidFill>
              </a:rPr>
              <a:t>IMPORTANT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240280" y="3063240"/>
            <a:ext cx="438912" cy="164592"/>
          </a:xfrm>
          <a:prstGeom prst="roundRect">
            <a:avLst>
              <a:gd name="adj" fmla="val 3000"/>
            </a:avLst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240280" y="3063240"/>
            <a:ext cx="4389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PATCH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70632" y="3026664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53,699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566160" y="3118104"/>
            <a:ext cx="1143000" cy="54864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566160" y="3118104"/>
            <a:ext cx="979551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718304" y="3044952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DC2626"/>
                </a:solidFill>
              </a:rPr>
              <a:t>85.70%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37744" y="3282696"/>
            <a:ext cx="4791456" cy="27432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92608" y="3300984"/>
            <a:ext cx="128016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Win 11 25H2 Upgrade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92608" y="3429000"/>
            <a:ext cx="12801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CHG00220758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645920" y="3337560"/>
            <a:ext cx="566928" cy="164592"/>
          </a:xfrm>
          <a:prstGeom prst="roundRect">
            <a:avLst>
              <a:gd name="adj" fmla="val 3000"/>
            </a:avLst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645920" y="3337560"/>
            <a:ext cx="56692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64748B"/>
                </a:solidFill>
              </a:rPr>
              <a:t>  —  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240280" y="3337560"/>
            <a:ext cx="438912" cy="164592"/>
          </a:xfrm>
          <a:prstGeom prst="roundRect">
            <a:avLst>
              <a:gd name="adj" fmla="val 3000"/>
            </a:avLst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240280" y="3337560"/>
            <a:ext cx="4389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RM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70632" y="3300984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75,594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566160" y="3392424"/>
            <a:ext cx="1143000" cy="54864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566160" y="3392424"/>
            <a:ext cx="973836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718304" y="3319272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DC2626"/>
                </a:solidFill>
              </a:rPr>
              <a:t>85.20%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92608" y="3575304"/>
            <a:ext cx="128016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Chrome 147.0.7727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92608" y="3703320"/>
            <a:ext cx="12801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CSIRC Red KEV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645920" y="3611880"/>
            <a:ext cx="566928" cy="164592"/>
          </a:xfrm>
          <a:prstGeom prst="roundRect">
            <a:avLst>
              <a:gd name="adj" fmla="val 3000"/>
            </a:avLst>
          </a:prstGeom>
          <a:solidFill>
            <a:srgbClr val="0D7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645920" y="3611880"/>
            <a:ext cx="56692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5EEAD4"/>
                </a:solidFill>
              </a:rPr>
              <a:t>CSIRC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240280" y="3611880"/>
            <a:ext cx="438912" cy="164592"/>
          </a:xfrm>
          <a:prstGeom prst="roundRect">
            <a:avLst>
              <a:gd name="adj" fmla="val 3000"/>
            </a:avLst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240280" y="3611880"/>
            <a:ext cx="4389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SW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770632" y="3575304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2,173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566160" y="3666744"/>
            <a:ext cx="1143000" cy="54864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566160" y="3666744"/>
            <a:ext cx="1069848" cy="54864"/>
          </a:xfrm>
          <a:prstGeom prst="rect">
            <a:avLst/>
          </a:prstGeom>
          <a:solidFill>
            <a:srgbClr val="22A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718304" y="3593592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22A350"/>
                </a:solidFill>
              </a:rPr>
              <a:t>93.60%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37744" y="3831336"/>
            <a:ext cx="4791456" cy="27432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92608" y="3904487"/>
            <a:ext cx="3200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CYCLE AVERAGE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566160" y="3941063"/>
            <a:ext cx="1143000" cy="54864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566160" y="3941063"/>
            <a:ext cx="1060246" cy="54864"/>
          </a:xfrm>
          <a:prstGeom prst="rect">
            <a:avLst/>
          </a:prstGeom>
          <a:solidFill>
            <a:srgbClr val="0EA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718304" y="3867911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i="0">
                <a:solidFill>
                  <a:srgbClr val="0EA898"/>
                </a:solidFill>
              </a:rPr>
              <a:t>92.76%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193792" y="1728216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0F1E32"/>
          </a:solidFill>
          <a:ln w="635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330952" y="1837943"/>
            <a:ext cx="3291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AGING BUCKETS — DAYS NONCOMPLIANT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330952" y="2057400"/>
            <a:ext cx="1078992" cy="658368"/>
          </a:xfrm>
          <a:prstGeom prst="roundRect">
            <a:avLst>
              <a:gd name="adj" fmla="val 4000"/>
            </a:avLst>
          </a:prstGeom>
          <a:solidFill>
            <a:srgbClr val="1A7A3C"/>
          </a:solidFill>
          <a:ln w="7620">
            <a:solidFill>
              <a:srgbClr val="22A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404104" y="2112264"/>
            <a:ext cx="95097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2A350"/>
                </a:solidFill>
              </a:rPr>
              <a:t>0-3 Days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404104" y="2258568"/>
            <a:ext cx="9509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22A350"/>
                </a:solidFill>
              </a:rPr>
              <a:t>1,204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404104" y="2551176"/>
            <a:ext cx="950976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Monitor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464808" y="2057400"/>
            <a:ext cx="1078992" cy="658368"/>
          </a:xfrm>
          <a:prstGeom prst="roundRect">
            <a:avLst>
              <a:gd name="adj" fmla="val 4000"/>
            </a:avLst>
          </a:prstGeom>
          <a:solidFill>
            <a:srgbClr val="92400E"/>
          </a:solidFill>
          <a:ln w="76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537960" y="2112264"/>
            <a:ext cx="95097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D97706"/>
                </a:solidFill>
              </a:rPr>
              <a:t>4-7 Days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537960" y="2258568"/>
            <a:ext cx="9509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</a:rPr>
              <a:t>1,876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537960" y="2551176"/>
            <a:ext cx="950976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Attention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598664" y="2057400"/>
            <a:ext cx="1078992" cy="658368"/>
          </a:xfrm>
          <a:prstGeom prst="roundRect">
            <a:avLst>
              <a:gd name="adj" fmla="val 4000"/>
            </a:avLst>
          </a:prstGeom>
          <a:solidFill>
            <a:srgbClr val="991B1B"/>
          </a:solidFill>
          <a:ln w="762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671816" y="2112264"/>
            <a:ext cx="95097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8+ Days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671816" y="2258568"/>
            <a:ext cx="9509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</a:rPr>
              <a:t>1,108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671816" y="2551176"/>
            <a:ext cx="950976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Escalate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330952" y="2788920"/>
            <a:ext cx="3291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ACTIONABLE VS. UNREACHABLE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330952" y="2971800"/>
            <a:ext cx="1618488" cy="585216"/>
          </a:xfrm>
          <a:prstGeom prst="roundRect">
            <a:avLst>
              <a:gd name="adj" fmla="val 4000"/>
            </a:avLst>
          </a:prstGeom>
          <a:solidFill>
            <a:srgbClr val="0D1A2E"/>
          </a:solidFill>
          <a:ln w="7620">
            <a:solidFill>
              <a:srgbClr val="22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394959" y="3026663"/>
            <a:ext cx="14904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Actionable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394959" y="3172968"/>
            <a:ext cx="14904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2272CC"/>
                </a:solidFill>
              </a:rPr>
              <a:t>3,621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394959" y="3429000"/>
            <a:ext cx="14904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Can be remediated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7004303" y="2971800"/>
            <a:ext cx="1618488" cy="585216"/>
          </a:xfrm>
          <a:prstGeom prst="roundRect">
            <a:avLst>
              <a:gd name="adj" fmla="val 4000"/>
            </a:avLst>
          </a:prstGeom>
          <a:solidFill>
            <a:srgbClr val="141E2D"/>
          </a:solidFill>
          <a:ln w="7620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068312" y="3026663"/>
            <a:ext cx="14904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Unreachable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068312" y="3172968"/>
            <a:ext cx="14904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64748B"/>
                </a:solidFill>
              </a:rPr>
              <a:t>567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068312" y="3429000"/>
            <a:ext cx="14904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Decommissioned / offline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5330952" y="3648456"/>
            <a:ext cx="3291840" cy="310896"/>
          </a:xfrm>
          <a:prstGeom prst="roundRect">
            <a:avLst>
              <a:gd name="adj" fmla="val 4000"/>
            </a:avLst>
          </a:prstGeom>
          <a:solidFill>
            <a:srgbClr val="1C1400"/>
          </a:solidFill>
          <a:ln w="889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5413248" y="3694176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</a:rPr>
              <a:t>⚠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50992" y="3675887"/>
            <a:ext cx="296265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</a:rPr>
              <a:t>14 VIP devices noncompliant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650992" y="3803904"/>
            <a:ext cx="2962656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3 in 8+ day bucket — escalate immediately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8851392" y="1728216"/>
            <a:ext cx="3246120" cy="2331720"/>
          </a:xfrm>
          <a:prstGeom prst="roundRect">
            <a:avLst>
              <a:gd name="adj" fmla="val 6000"/>
            </a:avLst>
          </a:prstGeom>
          <a:solidFill>
            <a:srgbClr val="0F1E32"/>
          </a:solidFill>
          <a:ln w="635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988552" y="1837943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AGENT HEALTH — SECURITY TOOLS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8988552" y="2112264"/>
            <a:ext cx="777240" cy="777240"/>
          </a:xfrm>
          <a:prstGeom prst="roundRect">
            <a:avLst>
              <a:gd name="adj" fmla="val 5000"/>
            </a:avLst>
          </a:prstGeom>
          <a:solidFill>
            <a:srgbClr val="0D1929"/>
          </a:solidFill>
          <a:ln w="63500">
            <a:solidFill>
              <a:srgbClr val="22A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9052560" y="2176272"/>
            <a:ext cx="649224" cy="649224"/>
          </a:xfrm>
          <a:prstGeom prst="roundRect">
            <a:avLst>
              <a:gd name="adj" fmla="val 5000"/>
            </a:avLst>
          </a:prstGeom>
          <a:solidFill>
            <a:srgbClr val="0F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988552" y="2276856"/>
            <a:ext cx="777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22A350"/>
                </a:solidFill>
              </a:rPr>
              <a:t>99.1%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988552" y="2660904"/>
            <a:ext cx="777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SMP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857232" y="2112264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Total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954512" y="2112264"/>
            <a:ext cx="1005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78,488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857232" y="2350008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Healthy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954512" y="2350008"/>
            <a:ext cx="1005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i="0">
                <a:solidFill>
                  <a:srgbClr val="22A350"/>
                </a:solidFill>
              </a:rPr>
              <a:t>77,778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857232" y="258775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Unhealthy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954512" y="2587752"/>
            <a:ext cx="1005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i="0">
                <a:solidFill>
                  <a:srgbClr val="D97706"/>
                </a:solidFill>
              </a:rPr>
              <a:t>710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9857232" y="2825496"/>
            <a:ext cx="2103120" cy="457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857232" y="2825496"/>
            <a:ext cx="2084191" cy="45720"/>
          </a:xfrm>
          <a:prstGeom prst="rect">
            <a:avLst/>
          </a:prstGeom>
          <a:solidFill>
            <a:srgbClr val="22A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988552" y="2935224"/>
            <a:ext cx="2971800" cy="457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8988552" y="3072384"/>
            <a:ext cx="777240" cy="777240"/>
          </a:xfrm>
          <a:prstGeom prst="roundRect">
            <a:avLst>
              <a:gd name="adj" fmla="val 5000"/>
            </a:avLst>
          </a:prstGeom>
          <a:solidFill>
            <a:srgbClr val="0D1929"/>
          </a:solidFill>
          <a:ln w="635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9052560" y="3136392"/>
            <a:ext cx="649224" cy="649224"/>
          </a:xfrm>
          <a:prstGeom prst="roundRect">
            <a:avLst>
              <a:gd name="adj" fmla="val 5000"/>
            </a:avLst>
          </a:prstGeom>
          <a:solidFill>
            <a:srgbClr val="0F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988552" y="3236976"/>
            <a:ext cx="777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D97706"/>
                </a:solidFill>
              </a:rPr>
              <a:t>97.9%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988552" y="3621024"/>
            <a:ext cx="777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SEP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857232" y="3072384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Total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954512" y="3072384"/>
            <a:ext cx="1005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78,488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9857232" y="3310128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Healthy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954512" y="3310128"/>
            <a:ext cx="1005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i="0">
                <a:solidFill>
                  <a:srgbClr val="22A350"/>
                </a:solidFill>
              </a:rPr>
              <a:t>76,867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857232" y="3547872"/>
            <a:ext cx="1097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Unhealthy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954512" y="3547872"/>
            <a:ext cx="1005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i="0">
                <a:solidFill>
                  <a:srgbClr val="DC2626"/>
                </a:solidFill>
              </a:rPr>
              <a:t>1,621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9857232" y="3785616"/>
            <a:ext cx="2103120" cy="457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857232" y="3785616"/>
            <a:ext cx="2058954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164592" y="4151376"/>
            <a:ext cx="4114800" cy="2523744"/>
          </a:xfrm>
          <a:prstGeom prst="roundRect">
            <a:avLst>
              <a:gd name="adj" fmla="val 6000"/>
            </a:avLst>
          </a:prstGeom>
          <a:solidFill>
            <a:srgbClr val="0F1E32"/>
          </a:solidFill>
          <a:ln w="635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301751" y="4261104"/>
            <a:ext cx="3840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FAILURE CATEGORY BREAKDOWN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92608" y="4480560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Offline / Extended Leave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755648" y="4535424"/>
            <a:ext cx="2176272" cy="914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755648" y="4535424"/>
            <a:ext cx="1566915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950207" y="4480560"/>
            <a:ext cx="2560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1012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92608" y="4709160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Pending Reboot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1755648" y="4764024"/>
            <a:ext cx="2176272" cy="914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755648" y="4764024"/>
            <a:ext cx="1262237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3950207" y="4709160"/>
            <a:ext cx="2560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814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92608" y="4937760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Low Disk Space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755648" y="4992624"/>
            <a:ext cx="2176272" cy="914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755648" y="4992624"/>
            <a:ext cx="1001085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3950207" y="4937760"/>
            <a:ext cx="2560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647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92608" y="5166360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Network / VPN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1755648" y="5221224"/>
            <a:ext cx="2176272" cy="914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755648" y="5221224"/>
            <a:ext cx="826983" cy="91440"/>
          </a:xfrm>
          <a:prstGeom prst="rect">
            <a:avLst/>
          </a:prstGeom>
          <a:solidFill>
            <a:srgbClr val="227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3950207" y="5166360"/>
            <a:ext cx="2560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534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92608" y="5394960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Update Corruption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755648" y="5449824"/>
            <a:ext cx="2176272" cy="914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755648" y="5449824"/>
            <a:ext cx="609356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3950207" y="5394960"/>
            <a:ext cx="2560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393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92608" y="5623560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Policy Conflict (GPO)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755648" y="5678424"/>
            <a:ext cx="2176272" cy="914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755648" y="5678424"/>
            <a:ext cx="478779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3950207" y="5623560"/>
            <a:ext cx="2560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309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92608" y="5852160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Agent Health Issue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755648" y="5907024"/>
            <a:ext cx="2176272" cy="914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755648" y="5907024"/>
            <a:ext cx="391728" cy="91440"/>
          </a:xfrm>
          <a:prstGeom prst="rect">
            <a:avLst/>
          </a:prstGeom>
          <a:solidFill>
            <a:srgbClr val="227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3950207" y="5852160"/>
            <a:ext cx="2560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253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2608" y="6080760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KEV / Aged CVE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755648" y="6135624"/>
            <a:ext cx="2176272" cy="914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755648" y="6135624"/>
            <a:ext cx="261152" cy="91440"/>
          </a:xfrm>
          <a:prstGeom prst="rect">
            <a:avLst/>
          </a:prstGeom>
          <a:solidFill>
            <a:srgbClr val="0EA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950207" y="6080760"/>
            <a:ext cx="2560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168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92608" y="6309360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Unsupported OS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1755648" y="6364224"/>
            <a:ext cx="2176272" cy="914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755648" y="6364224"/>
            <a:ext cx="174101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3950207" y="6309360"/>
            <a:ext cx="2560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58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74320" y="6419088"/>
            <a:ext cx="3895344" cy="201168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329184" y="6437376"/>
            <a:ext cx="3840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Routed: Quarantine (1,854) · OS Patching (787) · RM (534) · IRWorks Escalation (58)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4370831" y="4151376"/>
            <a:ext cx="4023360" cy="2523744"/>
          </a:xfrm>
          <a:prstGeom prst="roundRect">
            <a:avLst>
              <a:gd name="adj" fmla="val 6000"/>
            </a:avLst>
          </a:prstGeom>
          <a:solidFill>
            <a:srgbClr val="0F1E32"/>
          </a:solidFill>
          <a:ln w="635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4507992" y="4261104"/>
            <a:ext cx="37490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NONCOMPLIANT POPULATION — TREND OVER TIME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4645151" y="4562024"/>
            <a:ext cx="384048" cy="778071"/>
          </a:xfrm>
          <a:prstGeom prst="roundRect">
            <a:avLst>
              <a:gd name="adj" fmla="val 2000"/>
            </a:avLst>
          </a:prstGeom>
          <a:solidFill>
            <a:srgbClr val="227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4645151" y="5394960"/>
            <a:ext cx="38404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Jan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645151" y="4397432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5.2k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5102351" y="4594943"/>
            <a:ext cx="384048" cy="745152"/>
          </a:xfrm>
          <a:prstGeom prst="roundRect">
            <a:avLst>
              <a:gd name="adj" fmla="val 2000"/>
            </a:avLst>
          </a:prstGeom>
          <a:solidFill>
            <a:srgbClr val="227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5102351" y="5394960"/>
            <a:ext cx="38404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Feb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102351" y="4430351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4.9k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5559551" y="4633846"/>
            <a:ext cx="384048" cy="706249"/>
          </a:xfrm>
          <a:prstGeom prst="roundRect">
            <a:avLst>
              <a:gd name="adj" fmla="val 2000"/>
            </a:avLst>
          </a:prstGeom>
          <a:solidFill>
            <a:srgbClr val="227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5559551" y="5394960"/>
            <a:ext cx="38404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Mar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559551" y="4469254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4.7k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6016751" y="4665268"/>
            <a:ext cx="384048" cy="674827"/>
          </a:xfrm>
          <a:prstGeom prst="roundRect">
            <a:avLst>
              <a:gd name="adj" fmla="val 2000"/>
            </a:avLst>
          </a:prstGeom>
          <a:solidFill>
            <a:srgbClr val="227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6016751" y="5394960"/>
            <a:ext cx="38404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Apr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6016751" y="45006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4.5k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6473951" y="4693698"/>
            <a:ext cx="384048" cy="646397"/>
          </a:xfrm>
          <a:prstGeom prst="roundRect">
            <a:avLst>
              <a:gd name="adj" fmla="val 2000"/>
            </a:avLst>
          </a:prstGeom>
          <a:solidFill>
            <a:srgbClr val="227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473951" y="5394960"/>
            <a:ext cx="38404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May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6473951" y="452910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4.3k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6931151" y="4713449"/>
            <a:ext cx="384048" cy="626646"/>
          </a:xfrm>
          <a:prstGeom prst="roundRect">
            <a:avLst>
              <a:gd name="adj" fmla="val 2000"/>
            </a:avLst>
          </a:prstGeom>
          <a:solidFill>
            <a:srgbClr val="0EA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931151" y="5394960"/>
            <a:ext cx="38404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Jun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6931151" y="4548857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4.1k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4645151" y="5596128"/>
            <a:ext cx="128016" cy="91440"/>
          </a:xfrm>
          <a:prstGeom prst="roundRect">
            <a:avLst>
              <a:gd name="adj" fmla="val 2000"/>
            </a:avLst>
          </a:prstGeom>
          <a:solidFill>
            <a:srgbClr val="227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4809744" y="5577840"/>
            <a:ext cx="109728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Patch noncompliant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6016751" y="5596128"/>
            <a:ext cx="128016" cy="91440"/>
          </a:xfrm>
          <a:prstGeom prst="roundRect">
            <a:avLst>
              <a:gd name="adj" fmla="val 2000"/>
            </a:avLst>
          </a:prstGeom>
          <a:solidFill>
            <a:srgbClr val="0EA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6181344" y="5577840"/>
            <a:ext cx="109728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Current cycle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4507992" y="5797296"/>
            <a:ext cx="3749040" cy="457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4507992" y="5888736"/>
            <a:ext cx="37490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REMEDIATED VS. NEWLY IDENTIFIED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4507992" y="6071616"/>
            <a:ext cx="1847088" cy="475488"/>
          </a:xfrm>
          <a:prstGeom prst="roundRect">
            <a:avLst>
              <a:gd name="adj" fmla="val 4000"/>
            </a:avLst>
          </a:prstGeom>
          <a:solidFill>
            <a:srgbClr val="0D1F10"/>
          </a:solidFill>
          <a:ln w="7620">
            <a:solidFill>
              <a:srgbClr val="22A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4507992" y="6108192"/>
            <a:ext cx="184708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22A350"/>
                </a:solidFill>
              </a:rPr>
              <a:t>2,341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4507992" y="6364224"/>
            <a:ext cx="184708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Remediated this cycle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6409944" y="6071616"/>
            <a:ext cx="1847088" cy="475488"/>
          </a:xfrm>
          <a:prstGeom prst="roundRect">
            <a:avLst>
              <a:gd name="adj" fmla="val 4000"/>
            </a:avLst>
          </a:prstGeom>
          <a:solidFill>
            <a:srgbClr val="1F0D0D"/>
          </a:solidFill>
          <a:ln w="762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6409944" y="6108192"/>
            <a:ext cx="184708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C2626"/>
                </a:solidFill>
              </a:rPr>
              <a:t>1,876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6409944" y="6364224"/>
            <a:ext cx="184708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Newly identified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4507992" y="6565392"/>
            <a:ext cx="37490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22A350"/>
                </a:solidFill>
              </a:rPr>
              <a:t>Net reduction: 465 devices this cycle ↓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8485632" y="4151376"/>
            <a:ext cx="3703320" cy="2523744"/>
          </a:xfrm>
          <a:prstGeom prst="roundRect">
            <a:avLst>
              <a:gd name="adj" fmla="val 6000"/>
            </a:avLst>
          </a:prstGeom>
          <a:solidFill>
            <a:srgbClr val="0F1E32"/>
          </a:solidFill>
          <a:ln w="635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8622792" y="4261104"/>
            <a:ext cx="3429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ITEMS REQUIRING ACTION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8622792" y="4480560"/>
            <a:ext cx="34290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DC2626"/>
                </a:solidFill>
              </a:rPr>
              <a:t>BELOW 92.5% THRESHOLD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8622792" y="4645152"/>
            <a:ext cx="14630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●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8778240" y="4645152"/>
            <a:ext cx="23591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.NET 8.0 (DNETC80) — 53,699 applicable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1173967" y="4645152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DC2626"/>
                </a:solidFill>
              </a:rPr>
              <a:t>85.77%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8622792" y="4864608"/>
            <a:ext cx="14630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●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8778240" y="4864608"/>
            <a:ext cx="23591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Win 11 25H2 — 75,594 applicable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1173967" y="4864608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DC2626"/>
                </a:solidFill>
              </a:rPr>
              <a:t>85.22%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8622792" y="5084064"/>
            <a:ext cx="14630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●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8778240" y="5084064"/>
            <a:ext cx="23591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Edge Browser — 74,679 applicable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1173967" y="5084064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D97706"/>
                </a:solidFill>
              </a:rPr>
              <a:t>90.60%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8622792" y="5321808"/>
            <a:ext cx="34290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0EA898"/>
                </a:solidFill>
              </a:rPr>
              <a:t>CSIRC / KEV FLAGGED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8622792" y="5486400"/>
            <a:ext cx="14630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●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8778240" y="5486400"/>
            <a:ext cx="23591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Firefox 149.0.2 — CSIRC Orange · CVE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1173967" y="5486400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D97706"/>
                </a:solidFill>
              </a:rPr>
              <a:t>91.61%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8622792" y="5705856"/>
            <a:ext cx="14630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22A350"/>
                </a:solidFill>
              </a:rPr>
              <a:t>●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8778240" y="5705856"/>
            <a:ext cx="23591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Chrome 147.0.7727 — KEV cleared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1173967" y="5705856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22A350"/>
                </a:solidFill>
              </a:rPr>
              <a:t>93.56%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8622792" y="5961888"/>
            <a:ext cx="34290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D97706"/>
                </a:solidFill>
              </a:rPr>
              <a:t>IRWORKS ESCALATIONS OPEN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8622792" y="6126480"/>
            <a:ext cx="14630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●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8778240" y="6126480"/>
            <a:ext cx="21762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RemAT-ESC-WS42817 — Re-image needed</a:t>
            </a:r>
          </a:p>
        </p:txBody>
      </p:sp>
      <p:sp>
        <p:nvSpPr>
          <p:cNvPr id="306" name="Rounded Rectangle 305"/>
          <p:cNvSpPr/>
          <p:nvPr/>
        </p:nvSpPr>
        <p:spPr>
          <a:xfrm>
            <a:off x="11045951" y="6144768"/>
            <a:ext cx="658368" cy="146304"/>
          </a:xfrm>
          <a:prstGeom prst="roundRect">
            <a:avLst>
              <a:gd name="adj" fmla="val 3000"/>
            </a:avLst>
          </a:prstGeom>
          <a:solidFill>
            <a:srgbClr val="1C1400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11045951" y="6144768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DC2626"/>
                </a:solidFill>
              </a:rPr>
              <a:t>Open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8622792" y="6327648"/>
            <a:ext cx="14630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●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8778240" y="6327648"/>
            <a:ext cx="21762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RemAT-ESC-WS31204 — Long-term offline</a:t>
            </a:r>
          </a:p>
        </p:txBody>
      </p:sp>
      <p:sp>
        <p:nvSpPr>
          <p:cNvPr id="310" name="Rounded Rectangle 309"/>
          <p:cNvSpPr/>
          <p:nvPr/>
        </p:nvSpPr>
        <p:spPr>
          <a:xfrm>
            <a:off x="11045951" y="6345936"/>
            <a:ext cx="658368" cy="146304"/>
          </a:xfrm>
          <a:prstGeom prst="roundRect">
            <a:avLst>
              <a:gd name="adj" fmla="val 3000"/>
            </a:avLst>
          </a:prstGeom>
          <a:solidFill>
            <a:srgbClr val="1C1400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11045951" y="6345936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DC2626"/>
                </a:solidFill>
              </a:rPr>
              <a:t>Open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8622792" y="6528816"/>
            <a:ext cx="14630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●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8778240" y="6528816"/>
            <a:ext cx="21762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RemAT-BOD-20260615 — BOD cycle ticket</a:t>
            </a:r>
          </a:p>
        </p:txBody>
      </p:sp>
      <p:sp>
        <p:nvSpPr>
          <p:cNvPr id="314" name="Rounded Rectangle 313"/>
          <p:cNvSpPr/>
          <p:nvPr/>
        </p:nvSpPr>
        <p:spPr>
          <a:xfrm>
            <a:off x="11045951" y="6547104"/>
            <a:ext cx="658368" cy="146304"/>
          </a:xfrm>
          <a:prstGeom prst="roundRect">
            <a:avLst>
              <a:gd name="adj" fmla="val 3000"/>
            </a:avLst>
          </a:prstGeom>
          <a:solidFill>
            <a:srgbClr val="1C1400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11045951" y="6547104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D97706"/>
                </a:solidFill>
              </a:rPr>
              <a:t>Active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8622792" y="6766560"/>
            <a:ext cx="34290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HALTED RELEASES</a:t>
            </a:r>
          </a:p>
        </p:txBody>
      </p:sp>
      <p:sp>
        <p:nvSpPr>
          <p:cNvPr id="317" name="Rounded Rectangle 316"/>
          <p:cNvSpPr/>
          <p:nvPr/>
        </p:nvSpPr>
        <p:spPr>
          <a:xfrm>
            <a:off x="8622792" y="6931152"/>
            <a:ext cx="3429000" cy="201168"/>
          </a:xfrm>
          <a:prstGeom prst="roundRect">
            <a:avLst>
              <a:gd name="adj" fmla="val 3000"/>
            </a:avLst>
          </a:prstGeom>
          <a:solidFill>
            <a:srgbClr val="0D1929"/>
          </a:solidFill>
          <a:ln w="508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8705088" y="6949440"/>
            <a:ext cx="33192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✓  No halted releases this cycle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15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164592" y="6638544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SDR CMSO · RemAT · Endpoint Compliance Dashboard · CONTROLLED — INTERNAL USE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5943600" y="6638544"/>
            <a:ext cx="6080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Sources: ITMS · VBA Workbook (Baseline) · CSIRC Qualys · IRWorks · Generated 06/29/2026 09:00 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